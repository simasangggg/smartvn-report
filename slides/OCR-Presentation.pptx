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2E86DE">
              <a:lumMod val="70000"/>
              <a:lumOff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TRÍCH XUẤT THÔNG TIN</a:t>
            </a:r>
            <a:br/>
            <a:r>
              <a:t>HÓA ĐƠN TIẾNG VIỆT TỪ ẢNH</a:t>
            </a:r>
          </a:p>
          <a:p>
            <a:pPr>
              <a:spcBef>
                <a:spcPts val="1400"/>
              </a:spcBef>
              <a:defRPr sz="1800">
                <a:solidFill>
                  <a:srgbClr val="D6EAF8"/>
                </a:solidFill>
              </a:defRPr>
            </a:pPr>
            <a:r>
              <a:t>Pipeline PaddleOCR — VietOCR — LayoutLMv3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D6EAF8"/>
                </a:solidFill>
              </a:defRPr>
            </a:pPr>
            <a:r>
              <a:t>Học viện Công nghệ Bưu chính Viễn thông</a:t>
            </a:r>
            <a:br/>
            <a:r>
              <a:t>Khoa Công nghệ Thông tin 2 — Tháng 6,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Trích xuất Hóa đơn Tiếng Việt — PaddleOCR • VietOCR • LayoutLMv3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NỘI DUNG TRÌNH BÀY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 b="1">
                <a:solidFill>
                  <a:srgbClr val="2E86DE"/>
                </a:solidFill>
              </a:defRPr>
            </a:pPr>
            <a:r>
              <a:t>1. Mở đầu — Bối cảnh bài toán</a:t>
            </a:r>
          </a:p>
          <a:p>
            <a:pPr>
              <a:spcBef>
                <a:spcPts val="1400"/>
              </a:spcBef>
              <a:defRPr sz="1800" b="1">
                <a:solidFill>
                  <a:srgbClr val="2E86DE"/>
                </a:solidFill>
              </a:defRPr>
            </a:pPr>
            <a:r>
              <a:t>2. Tổng quan — Mô hình hóa &amp; Pipeline</a:t>
            </a:r>
          </a:p>
          <a:p>
            <a:pPr>
              <a:spcBef>
                <a:spcPts val="1400"/>
              </a:spcBef>
              <a:defRPr sz="1800" b="1">
                <a:solidFill>
                  <a:srgbClr val="2E86DE"/>
                </a:solidFill>
              </a:defRPr>
            </a:pPr>
            <a:r>
              <a:t>3. Phân loại &amp; Tiến hóa — 3 thế hệ thuật toán</a:t>
            </a:r>
          </a:p>
          <a:p>
            <a:pPr>
              <a:spcBef>
                <a:spcPts val="1400"/>
              </a:spcBef>
              <a:defRPr sz="1800" b="1">
                <a:solidFill>
                  <a:srgbClr val="2E86DE"/>
                </a:solidFill>
              </a:defRPr>
            </a:pPr>
            <a:r>
              <a:t>4. Trực giác — Con người đọc hóa đơn ra sao?</a:t>
            </a:r>
          </a:p>
          <a:p>
            <a:pPr>
              <a:spcBef>
                <a:spcPts val="1400"/>
              </a:spcBef>
              <a:defRPr sz="1800" b="1">
                <a:solidFill>
                  <a:srgbClr val="2E86DE"/>
                </a:solidFill>
              </a:defRPr>
            </a:pPr>
            <a:r>
              <a:t>5. Toán học hóa — Công thức cốt lõi</a:t>
            </a:r>
          </a:p>
          <a:p>
            <a:pPr>
              <a:spcBef>
                <a:spcPts val="1400"/>
              </a:spcBef>
              <a:defRPr sz="1800" b="1">
                <a:solidFill>
                  <a:srgbClr val="2E86DE"/>
                </a:solidFill>
              </a:defRPr>
            </a:pPr>
            <a:r>
              <a:t>6. Khoảng cách — Lý thuyết vs Thực tế</a:t>
            </a:r>
          </a:p>
          <a:p>
            <a:pPr>
              <a:spcBef>
                <a:spcPts val="1400"/>
              </a:spcBef>
              <a:defRPr sz="1800" b="1">
                <a:solidFill>
                  <a:srgbClr val="2E86DE"/>
                </a:solidFill>
              </a:defRPr>
            </a:pPr>
            <a:r>
              <a:t>7. Thách thức — Rào cản &amp; Hướng phát triển</a:t>
            </a:r>
          </a:p>
          <a:p>
            <a:pPr>
              <a:spcBef>
                <a:spcPts val="1400"/>
              </a:spcBef>
              <a:defRPr sz="1800" b="1">
                <a:solidFill>
                  <a:srgbClr val="2E86DE"/>
                </a:solidFill>
              </a:defRPr>
            </a:pPr>
            <a:r>
              <a:t>8. Kết luận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Trích xuất Hóa đơn Tiếng Việt — PaddleOCR • VietOCR • LayoutLMv3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BỐI CẢNH BÀI TOÁN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Hàng triệu giao dịch thương mại tại Việt Nam tạo ra hàng triệu tờ hóa đơn giấy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Kế toán viên gõ tay từng con số → sai sót nhập liệu thường xuyên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800" b="1">
                <a:solidFill>
                  <a:srgbClr val="2E86DE"/>
                </a:solidFill>
              </a:defRPr>
            </a:pPr>
            <a:r>
              <a:t>Thách thức đọc hóa đơn thực tế: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Font chữ tùy ý, góc chụp nghiêng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Ánh sáng không đều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Tiếng Việt với đầy đủ dấu thanh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Cần biến **ảnh hóa đơn** thành **dữ liệu có cấu trúc**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Trích xuất Hóa đơn Tiếng Việt — PaddleOCR • VietOCR • LayoutLMv3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CÁC TÌNH HUỐNG THỰC TẾ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0972800" cy="365760"/>
          </a:xfrm>
          <a:prstGeom prst="round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Kịch bản A — Kế toán doanh nghiệp nhỏ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10972800" cy="822960"/>
          </a:xfrm>
          <a:prstGeom prst="roundRect">
            <a:avLst/>
          </a:prstGeom>
          <a:solidFill>
            <a:srgbClr val="D6EAF8"/>
          </a:solidFill>
          <a:ln w="12700">
            <a:solidFill>
              <a:srgbClr val="2E8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63500"/>
          <a:lstStyle/>
          <a:p>
            <a:pPr algn="ctr"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300 hóa đơn công tác phí, mất 2–3 ngày nhập thủ công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560320"/>
            <a:ext cx="10972800" cy="36576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Kịch bản B — Ứng dụng chi tiêu cá nhân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926080"/>
            <a:ext cx="10972800" cy="8229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63500"/>
          <a:lstStyle/>
          <a:p>
            <a:pPr algn="ctr"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Chụp ảnh hóa đơn → tự động điền ngày, siêu thị, tổng tiền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931920"/>
            <a:ext cx="10972800" cy="36576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Kịch bản C — Kiểm toán &amp; Tuân thủ thuế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297680"/>
            <a:ext cx="10972800" cy="82296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63500"/>
          <a:lstStyle/>
          <a:p>
            <a:pPr algn="ctr"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Xác minh hàng nghìn hóa đơn VAT tự động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E86DE"/>
                </a:solidFill>
              </a:defRPr>
            </a:pPr>
            <a:r>
              <a:t>→ Nhu cầu chung: Document Information Extraction (DIE)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Trích xuất Hóa đơn Tiếng Việt — PaddleOCR • VietOCR • LayoutLMv3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MÔ HÌNH HÓA — BA TẦNG XỬ LÝ</a:t>
            </a:r>
          </a:p>
        </p:txBody>
      </p:sp>
      <p:pic>
        <p:nvPicPr>
          <p:cNvPr id="5" name="Picture 4" descr="three-t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188720"/>
            <a:ext cx="82296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Trích xuất Hóa đơn Tiếng Việt — PaddleOCR • VietOCR • LayoutLMv3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ĐẦU VÀO &amp; ĐẦU 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0972800" cy="365760"/>
          </a:xfrm>
          <a:prstGeom prst="round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Đầu vào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10972800" cy="731520"/>
          </a:xfrm>
          <a:prstGeom prst="roundRect">
            <a:avLst/>
          </a:prstGeom>
          <a:solidFill>
            <a:srgbClr val="D6EAF8"/>
          </a:solidFill>
          <a:ln w="12700">
            <a:solidFill>
              <a:srgbClr val="2E8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63500"/>
          <a:lstStyle/>
          <a:p>
            <a:pPr algn="ctr"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Ảnh JPEG/PNG hóa đơn chụp bằng điện thoại (nghiêng, nhòe, ánh sáng không đều)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743200"/>
            <a:ext cx="10972800" cy="36576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Đầu ra — JSON có ngữ nghĩa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108960"/>
            <a:ext cx="10972800" cy="283464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63500"/>
          <a:lstStyle/>
          <a:p>
            <a:pPr algn="ctr"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{ "store_name": "Circle K", "date": "2024-05-27", "total": 87000</a:t>
            </a:r>
          </a:p>
          <a:p>
            <a:pPr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  "items": [ { "name": "Cafe sua da", "qty": 2, "price": 29000 }, ... ] 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Trích xuất Hóa đơn Tiếng Việt — PaddleOCR • VietOCR • LayoutLMv3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PIPELINE XỬ LÝ</a:t>
            </a:r>
          </a:p>
        </p:txBody>
      </p:sp>
      <p:pic>
        <p:nvPicPr>
          <p:cNvPr id="5" name="Picture 4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058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Trích xuất Hóa đơn Tiếng Việt — PaddleOCR • VietOCR • LayoutLMv3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TEXT DETECTION — Từ sliding window đến anchor-free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097280"/>
            <a:ext cx="3657600" cy="365760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Thế hệ 1 (trước 2015)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463040"/>
            <a:ext cx="3657600" cy="192024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63500"/>
          <a:lstStyle/>
          <a:p>
            <a:pPr algn="ctr"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MSER, SWT</a:t>
            </a:r>
          </a:p>
          <a:p>
            <a:pPr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Phân tích pixel theo màu sắc</a:t>
            </a:r>
          </a:p>
          <a:p>
            <a:pPr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Chỉ hoạt động với ảnh sạch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3566160"/>
            <a:ext cx="3657600" cy="36576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Thế hệ 2 (2015–2017)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3931920"/>
            <a:ext cx="3657600" cy="192024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63500"/>
          <a:lstStyle/>
          <a:p>
            <a:pPr algn="ctr"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CTPN, TextBoxes++, SegLink</a:t>
            </a:r>
          </a:p>
          <a:p>
            <a:pPr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CNN-based với Anchor Boxes</a:t>
            </a:r>
          </a:p>
          <a:p>
            <a:pPr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Khó phát hiện văn bản cong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1097280"/>
            <a:ext cx="7680960" cy="365760"/>
          </a:xfrm>
          <a:prstGeom prst="round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★ Thế hệ 3 (2018–nay) — DB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463040"/>
            <a:ext cx="7680960" cy="4389120"/>
          </a:xfrm>
          <a:prstGeom prst="roundRect">
            <a:avLst/>
          </a:prstGeom>
          <a:solidFill>
            <a:srgbClr val="D6EAF8"/>
          </a:solidFill>
          <a:ln w="12700">
            <a:solidFill>
              <a:srgbClr val="2E8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63500"/>
          <a:lstStyle/>
          <a:p>
            <a:pPr algn="ctr"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DB (Differentiable Binarization)</a:t>
            </a:r>
          </a:p>
          <a:p>
            <a:pPr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Xương sống của PaddleOCR</a:t>
            </a:r>
          </a:p>
          <a:p>
            <a:pPr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Dự đoán probability map per pixel</a:t>
            </a:r>
          </a:p>
          <a:p>
            <a:pPr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Ngưỡng có thể học được (differentiable threshold)</a:t>
            </a:r>
          </a:p>
          <a:p>
            <a:pPr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Tối ưu cho CPU/mobile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Trích xuất Hóa đơn Tiếng Việt — PaddleOCR • VietOCR • LayoutLMv3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TEXT RECOGNITION — Từ template matching đến Attention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097280"/>
            <a:ext cx="3657600" cy="365760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Thế hệ 1 (trước 2014)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463040"/>
            <a:ext cx="3657600" cy="192024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63500"/>
          <a:lstStyle/>
          <a:p>
            <a:pPr algn="ctr"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Tesseract v3, template matching</a:t>
            </a:r>
          </a:p>
          <a:p>
            <a:pPr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Tách từng ký tự</a:t>
            </a:r>
          </a:p>
          <a:p>
            <a:pPr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Yêu cầu font rõ ràng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3566160"/>
            <a:ext cx="3657600" cy="36576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Thế hệ 2 (2015–2018)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3931920"/>
            <a:ext cx="3657600" cy="192024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63500"/>
          <a:lstStyle/>
          <a:p>
            <a:pPr algn="ctr"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CRNN + CTC</a:t>
            </a:r>
          </a:p>
          <a:p>
            <a:pPr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CNN + BiLSTM + CTC loss</a:t>
            </a:r>
          </a:p>
          <a:p>
            <a:pPr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Nền tảng OCR hiện đại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1097280"/>
            <a:ext cx="7680960" cy="365760"/>
          </a:xfrm>
          <a:prstGeom prst="round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★ Thế hệ 3 (2018–nay) — VietOCR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463040"/>
            <a:ext cx="7680960" cy="4389120"/>
          </a:xfrm>
          <a:prstGeom prst="roundRect">
            <a:avLst/>
          </a:prstGeom>
          <a:solidFill>
            <a:srgbClr val="D6EAF8"/>
          </a:solidFill>
          <a:ln w="12700">
            <a:solidFill>
              <a:srgbClr val="2E8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63500"/>
          <a:lstStyle/>
          <a:p>
            <a:pPr algn="ctr"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Seq2Seq + Attention</a:t>
            </a:r>
          </a:p>
          <a:p>
            <a:pPr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VGG/ResNet encoder + Transformer decoder</a:t>
            </a:r>
          </a:p>
          <a:p>
            <a:pPr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Xử lý dấu thanh tiếng Việt tốt hơn</a:t>
            </a:r>
          </a:p>
          <a:p>
            <a:pPr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Pretrain trên 5M+ ảnh text tiếng Việt</a:t>
            </a:r>
          </a:p>
          <a:p>
            <a:pPr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60+ font chữ thông dụng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Trích xuất Hóa đơn Tiếng Việt — PaddleOCR • VietOCR • LayoutLMv3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KEY INFORMATION EXTRACTION — Từ rule-based đến Multi-modal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097280"/>
            <a:ext cx="3657600" cy="365760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Thế hệ 1 — Rule-based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463040"/>
            <a:ext cx="3657600" cy="192024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63500"/>
          <a:lstStyle/>
          <a:p>
            <a:pPr algn="ctr"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Regex, heuristic</a:t>
            </a:r>
          </a:p>
          <a:p>
            <a:pPr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Nhanh, không cần training</a:t>
            </a:r>
          </a:p>
          <a:p>
            <a:pPr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Vỡ ngay khi gặp format mới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3566160"/>
            <a:ext cx="3657600" cy="36576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Thế hệ 2 — BERT NER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3931920"/>
            <a:ext cx="3657600" cy="192024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63500"/>
          <a:lstStyle/>
          <a:p>
            <a:pPr algn="ctr"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Token classification</a:t>
            </a:r>
          </a:p>
          <a:p>
            <a:pPr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Bỏ qua thông tin vị trí không gian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1097280"/>
            <a:ext cx="7680960" cy="365760"/>
          </a:xfrm>
          <a:prstGeom prst="round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★ Thế hệ 3 — LayoutLMv3 (Microsoft, 2022)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463040"/>
            <a:ext cx="7680960" cy="4389120"/>
          </a:xfrm>
          <a:prstGeom prst="roundRect">
            <a:avLst/>
          </a:prstGeom>
          <a:solidFill>
            <a:srgbClr val="D6EAF8"/>
          </a:solidFill>
          <a:ln w="12700">
            <a:solidFill>
              <a:srgbClr val="2E8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63500"/>
          <a:lstStyle/>
          <a:p>
            <a:pPr algn="ctr"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Kết hợp 3 nguồn: text OCR + bbox + patch ảnh</a:t>
            </a:r>
          </a:p>
          <a:p>
            <a:pPr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Unified self-attention qua cả 3 modality</a:t>
            </a:r>
          </a:p>
          <a:p>
            <a:pPr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Pre-training: MLM + MIM + Text-Image Alignment</a:t>
            </a:r>
          </a:p>
          <a:p>
            <a:pPr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Đột phá cho Document 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Trích xuất Hóa đơn Tiếng Việt — PaddleOCR • VietOCR • LayoutLMv3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CON NGƯỜI ĐỌC HÓA ĐƠN NHƯ THẾ NÀO?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 b="1">
                <a:solidFill>
                  <a:srgbClr val="2E86DE"/>
                </a:solidFill>
              </a:defRPr>
            </a:pPr>
            <a:r>
              <a:t>1. Vị trí không gian mang ngữ nghĩa: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"Tổng cộng" → góc dưới phải, font lớn, in đậm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Tên cửa hàng → trên cùng, canh giữa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800" b="1">
                <a:solidFill>
                  <a:srgbClr val="2E86DE"/>
                </a:solidFill>
              </a:defRPr>
            </a:pPr>
            <a:r>
              <a:t>2. Căn lề là thông tin: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Giá tiền căn phải, tên mặt hàng căn trái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800" b="1">
                <a:solidFill>
                  <a:srgbClr val="2E86DE"/>
                </a:solidFill>
              </a:defRPr>
            </a:pPr>
            <a:r>
              <a:t>3. Gần nhau → liên quan: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"2 x 29,000" và "58,000" cùng dòng → cùng mặt hàng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800" b="1">
                <a:solidFill>
                  <a:srgbClr val="2E86DE"/>
                </a:solidFill>
              </a:defRPr>
            </a:pPr>
            <a:r>
              <a:t>4. Pattern lặp lại trong vùng bảng: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5 dòng có cấu trúc [tên | số | số] → bảng mặt hàng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Trích xuất Hóa đơn Tiếng Việt — PaddleOCR • VietOCR • LayoutLMv3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MÔ HÌNH MÔ PHỎNG TRỰC GIÁC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10287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Trực giác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Mô hình mô phỏng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Vùng chữ có cấu trúc pixel đặc biệt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PaddleOCR Detection: học probability map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Đọc ký tự cần ngữ cảnh xung quanh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VietOCR: attention "nhìn lại" toàn bộ ảnh</a:t>
                      </a:r>
                    </a:p>
                  </a:txBody>
                  <a:tcPr/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Vị trí + nội dung + hình ảnh cùng quyết định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LayoutLMv3: fuse 3 luồng trong transformer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Trích xuất Hóa đơn Tiếng Việt — PaddleOCR • VietOCR • LayoutLMv3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PaddleOCR — DB (Differentiable Binarization)</a:t>
            </a:r>
          </a:p>
        </p:txBody>
      </p:sp>
      <p:pic>
        <p:nvPicPr>
          <p:cNvPr id="5" name="Picture 4" descr="db-algorith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303520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 b="1">
                <a:solidFill>
                  <a:srgbClr val="2E86DE"/>
                </a:solidFill>
              </a:defRPr>
            </a:pPr>
            <a:r>
              <a:t>Phép toán chủ đạo: Segmentation + Adaptive Thresholding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800" b="1">
                <a:solidFill>
                  <a:srgbClr val="2E86DE"/>
                </a:solidFill>
              </a:defRPr>
            </a:pPr>
            <a:r>
              <a:t>Mô hình học 2 map song song từ feature map F: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P = σ(Conv(F))  ← Probability map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T = σ(Conv'(F))  ← Threshold map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B̂ = σ((P-T)/k)  ← Binary map (differentiable)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800" b="1">
                <a:solidFill>
                  <a:srgbClr val="2E86DE"/>
                </a:solidFill>
              </a:defRPr>
            </a:pPr>
            <a:r>
              <a:t>Bí quyết: σ((P-T)/k) với k=50 xấp xỉ hàm step nhưng vẫn có gradient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800" b="1">
                <a:solidFill>
                  <a:srgbClr val="2E86DE"/>
                </a:solidFill>
              </a:defRPr>
            </a:pPr>
            <a:r>
              <a:t>Loss: L = L_bce(P, Gp) + α·L_bce(B̂, Gb) + β·L1(T, Gt)</a:t>
            </a:r>
          </a:p>
          <a:p>
            <a:pPr>
              <a:spcBef>
                <a:spcPts val="1400"/>
              </a:spcBef>
              <a:defRPr sz="1800" b="1">
                <a:solidFill>
                  <a:srgbClr val="2E86DE"/>
                </a:solidFill>
              </a:defRPr>
            </a:pPr>
            <a:r>
              <a:t>Tham số: ResNet-18/50 + FPN, khoảng 10–27M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Trích xuất Hóa đơn Tiếng Việt — PaddleOCR • VietOCR • LayoutLMv3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VietOCR — Seq2Seq với Attention</a:t>
            </a:r>
          </a:p>
        </p:txBody>
      </p:sp>
      <p:pic>
        <p:nvPicPr>
          <p:cNvPr id="5" name="Picture 4" descr="vietocr-att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303520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 b="1">
                <a:solidFill>
                  <a:srgbClr val="2E86DE"/>
                </a:solidFill>
              </a:defRPr>
            </a:pPr>
            <a:r>
              <a:t>Phép toán chủ đạo: Cross-Attention trong Transformer decoder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800" b="1">
                <a:solidFill>
                  <a:srgbClr val="2E86DE"/>
                </a:solidFill>
              </a:defRPr>
            </a:pPr>
            <a:r>
              <a:t>Pipeline: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F = CNN_Encoder(ảnh) → shape: (H/4, W/4, C)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F_flat = reshape(F) + positional_embed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h_t = TransformerDecoder(h_{t-1}, F_flat)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p(y_t) = Softmax(Linear(h_t))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800" b="1">
                <a:solidFill>
                  <a:srgbClr val="2E86DE"/>
                </a:solidFill>
              </a:defRPr>
            </a:pPr>
            <a:r>
              <a:t>Đặc biệt tiếng Việt: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Khi sinh "ề", decoder attend mạnh vào vùng có dấu phụ kép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Vocab: 130–150 ký tự Unicode tiếng Việt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Trích xuất Hóa đơn Tiếng Việt — PaddleOCR • VietOCR • LayoutLMv3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LayoutLMv3 — Multi-modal Transformer</a:t>
            </a:r>
          </a:p>
        </p:txBody>
      </p:sp>
      <p:pic>
        <p:nvPicPr>
          <p:cNvPr id="5" name="Picture 4" descr="layoutlm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303520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00584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 b="1">
                <a:solidFill>
                  <a:srgbClr val="2E86DE"/>
                </a:solidFill>
              </a:defRPr>
            </a:pPr>
            <a:r>
              <a:t>Phép toán chủ đạo: Unified Self-Attention qua cả 3 modality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800" b="1">
                <a:solidFill>
                  <a:srgbClr val="2E86DE"/>
                </a:solidFill>
              </a:defRPr>
            </a:pPr>
            <a:r>
              <a:t>Input token i: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e_i = E_text(token_i) + E_1D(pos_i) + E_2D(x1,y1,x2,y2,w,h)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800" b="1">
                <a:solidFill>
                  <a:srgbClr val="2E86DE"/>
                </a:solidFill>
              </a:defRPr>
            </a:pPr>
            <a:r>
              <a:t>Image patch j: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v_j = LinearProj(patch_j) + E_img_pos(j)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800" b="1">
                <a:solidFill>
                  <a:srgbClr val="2E86DE"/>
                </a:solidFill>
              </a:defRPr>
            </a:pPr>
            <a:r>
              <a:t>Pre-training objectives: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Masked Language Modeling (MLM) trên text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Masked Image Modeling (MIM) trên ảnh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Text-Image Alignment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Trích xuất Hóa đơn Tiếng Việt — PaddleOCR • VietOCR • LayoutLMv3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HÀM MẤT MÁT &amp; LÝ DO LỰA CHỌN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Tầng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Loss Function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Tại sao?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Detection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BCE + L1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Gradient ổn định, robust với outlier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Recognition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Cross-Entropy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Smooth, vi phân được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KIE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Cross-Entropy/token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Tính được tại từng token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1148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 b="1">
                <a:solidFill>
                  <a:srgbClr val="2E86DE"/>
                </a:solidFill>
              </a:defRPr>
            </a:pPr>
            <a:r>
              <a:t>Tại sao không dùng Metric làm Loss?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Field Exact Match: không có gradient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CER (edit distance): không liên tục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Entity F1: phụ thuộc ngưỡng confidence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→ Dùng CE làm Loss, F1/CER/Exact Match chỉ để đánh giá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Trích xuất Hóa đơn Tiếng Việt — PaddleOCR • VietOCR • LayoutLMv3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HỆ QUẢ THỰC TẾ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0972800" cy="3657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Điểm đau lớn nhất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10972800" cy="1463040"/>
          </a:xfrm>
          <a:prstGeom prst="roundRect">
            <a:avLst/>
          </a:prstGeom>
          <a:solidFill>
            <a:srgbClr val="FFEBEE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63500"/>
          <a:lstStyle/>
          <a:p>
            <a:pPr algn="ctr"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Mô hình đạt CER 98% nhưng Field Exact Match chỉ 70%</a:t>
            </a:r>
          </a:p>
          <a:p>
            <a:pPr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Chỉ cần sai 1 ký tự trong "87.000" thành "87.500" là cả trường total sai hoàn toàn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7472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 b="1">
                <a:solidFill>
                  <a:srgbClr val="2E86DE"/>
                </a:solidFill>
              </a:defRPr>
            </a:pPr>
            <a:r>
              <a:t>Khả năng mở rộng Loss: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Thêm class mới: DISCOUNT, TAX_CODE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Weighted loss: ưu tiên TOTAL, DATE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Consistency constraint: Σ(subtotals) ≈ total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Trích xuất Hóa đơn Tiếng Việt — PaddleOCR • VietOCR • LayoutLMv3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TRỞ NGẠI ĐÃ GIẢI QUYẾT &amp; CÒN TỒN Đọng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097280"/>
            <a:ext cx="5669280" cy="36576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✓ Đã giải quyết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463040"/>
            <a:ext cx="5669280" cy="43891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63500"/>
          <a:lstStyle/>
          <a:p>
            <a:pPr algn="ctr"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Văn bản đa hướng, cong → DB, ABCNet</a:t>
            </a:r>
          </a:p>
          <a:p>
            <a:pPr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Font chữ đa dạng tiếng Việt → VietOCR pretrained</a:t>
            </a:r>
          </a:p>
          <a:p>
            <a:pPr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Hiểu layout cơ bản → 2D positional embedding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097280"/>
            <a:ext cx="5669280" cy="36576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✗ Còn tồn đọng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669280" cy="438912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63500"/>
          <a:lstStyle/>
          <a:p>
            <a:pPr algn="ctr"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Ảnh chất lượng thấp — CER tụt 85–90%</a:t>
            </a:r>
          </a:p>
          <a:p>
            <a:pPr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Hóa đơn in nhiệt bị phai</a:t>
            </a:r>
          </a:p>
          <a:p>
            <a:pPr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Zero-shot generalization — cần fine-tune</a:t>
            </a:r>
          </a:p>
          <a:p>
            <a:pPr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Dữ liệu tiếng Việt khan hiếm</a:t>
            </a:r>
          </a:p>
          <a:p>
            <a:pPr>
              <a:spcBef>
                <a:spcPts val="300"/>
              </a:spcBef>
              <a:defRPr sz="1200">
                <a:solidFill>
                  <a:srgbClr val="2C3E50"/>
                </a:solidFill>
              </a:defRPr>
            </a:pPr>
            <a:r>
              <a:t>• Relation Extraction phức tạp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Trích xuất Hóa đơn Tiếng Việt — PaddleOCR • VietOCR • LayoutLMv3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HƯỚNG ĐI TƯƠNG 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 b="1">
                <a:solidFill>
                  <a:srgbClr val="2E86DE"/>
                </a:solidFill>
              </a:defRPr>
            </a:pPr>
            <a:r>
              <a:t>1. End-to-end Document Understanding: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Donut, Nougat — bỏ qua OCR, ảnh → JSON trực tiếp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800" b="1">
                <a:solidFill>
                  <a:srgbClr val="2E86DE"/>
                </a:solidFill>
              </a:defRPr>
            </a:pPr>
            <a:r>
              <a:t>2. Large Vision-Language Models (LVLMs):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GPT-4V, Gemini — zero-shot, không cần fine-tune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800" b="1">
                <a:solidFill>
                  <a:srgbClr val="2E86DE"/>
                </a:solidFill>
              </a:defRPr>
            </a:pPr>
            <a:r>
              <a:t>3. Self-supervised pretraining trên tài liệu Việt: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Corpus hóa đơn/biểu mẫu tiếng Việt quy mô lớn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800" b="1">
                <a:solidFill>
                  <a:srgbClr val="2E86DE"/>
                </a:solidFill>
              </a:defRPr>
            </a:pPr>
            <a:r>
              <a:t>4. Synthetic data generation: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Tạo hóa đơn giả + domain randomization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Trích xuất Hóa đơn Tiếng Việt — PaddleOCR • VietOCR • LayoutLMv3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KẾT LUẬN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Bài toán trích xuất hóa đơn tiếng Việt đòi hỏi giải quyết đồng thời 3 thách thức: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**phát hiện vùng chữ**, **nhận dạng ký tự**, **hiểu cấu trúc ngữ nghĩa**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Pipeline **PaddleOCR → VietOCR → LayoutLMv3** là lựa chọn hợp lý hiện tại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Nhược điểm cố hữu: **lỗi tích lũy qua từng tầng**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Ranh giới giữa OCR+NLP pipeline và end-to-end LVLM đang dần mờ đi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6400800" cy="6400800"/>
          </a:xfrm>
          <a:prstGeom prst="ellipse">
            <a:avLst/>
          </a:prstGeom>
          <a:solidFill>
            <a:srgbClr val="2E86DE">
              <a:lumMod val="70000"/>
              <a:lumOff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9144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CẢM ƠN THẦY VÀ CÁC BẠN!</a:t>
            </a:r>
          </a:p>
          <a:p>
            <a:pPr algn="ctr">
              <a:spcBef>
                <a:spcPts val="2000"/>
              </a:spcBef>
              <a:defRPr sz="2400">
                <a:solidFill>
                  <a:srgbClr val="D6EAF8"/>
                </a:solidFill>
              </a:defRPr>
            </a:pPr>
            <a:r>
              <a:t>Xin cảm ơn!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D6EAF8"/>
                </a:solidFill>
              </a:defRPr>
            </a:pPr>
            <a:r>
              <a:t>Học viện Công nghệ Bưu chính Viễn thông — Khoa CNTT2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