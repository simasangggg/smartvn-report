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2E86DE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HỆ THỐNG THƯƠNG MẠI ĐIỆN TỬ</a:t>
            </a:r>
            <a:br/>
            <a:r>
              <a:t>SMARTVN</a:t>
            </a:r>
          </a:p>
          <a:p>
            <a:pPr>
              <a:spcBef>
                <a:spcPts val="1200"/>
              </a:spcBef>
              <a:defRPr sz="1800">
                <a:solidFill>
                  <a:srgbClr val="D6EAF8"/>
                </a:solidFill>
              </a:defRPr>
            </a:pPr>
            <a:r>
              <a:t>Kiến trúc Microservices với Spring Boot, Spring Cloud &amp; Redis</a:t>
            </a:r>
            <a:br/>
            <a:r>
              <a:t>Ứng dụng Mobile Android &amp; Recommendation System</a:t>
            </a:r>
          </a:p>
          <a:p>
            <a:pPr>
              <a:spcBef>
                <a:spcPts val="2400"/>
              </a:spcBef>
              <a:defRPr sz="1400">
                <a:solidFill>
                  <a:srgbClr val="7F8C8D"/>
                </a:solidFill>
              </a:defRPr>
            </a:pPr>
            <a:r>
              <a:t>Thành phố Hồ Chí Minh, Tháng 6 năm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D6EAF8"/>
                </a:solidFill>
              </a:defRPr>
            </a:pPr>
            <a:r>
              <a:t>Học viện Công nghệ Bưu chính Viễn thông</a:t>
            </a:r>
            <a:br/>
            <a:r>
              <a:t>Khoa Công nghệ Thông tin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NỘI DUNG TRÌNH BÀY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1. Tổng quan đề tài</a:t>
            </a:r>
          </a:p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2. Kiến trúc hệ thống</a:t>
            </a:r>
          </a:p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3. Công nghệ sử dụng</a:t>
            </a:r>
          </a:p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4. Thiết kế cơ sở dữ liệu</a:t>
            </a:r>
          </a:p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5. Recommendation System</a:t>
            </a:r>
          </a:p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6. Mobile Application</a:t>
            </a:r>
          </a:p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7. Kiểm thử &amp; Đánh giá</a:t>
            </a:r>
          </a:p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8. Kết luận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FFFF">
                    <a:lumMod val="70000"/>
                  </a:srgbClr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TỔNG QUAN ĐỀ TÀI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BỐI CẢNH &amp; BÀI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Thương mại điện tử tại Việt Nam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Thị trường TMĐT toàn cầu &gt; 6.000 tỷ USD (2025)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Việt Nam: Shopee, Lazada, Tiki, Sendo cạnh tranh mạnh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Thách thức đặt ra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Mở rộng linh hoạt cho lượng lớn người dùng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Đảm bảo tính sẵn sàng cao (fault tolerance)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Bảo mật thông tin &amp; giao dịch thanh toán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Duy trì và phát triển từng phần độc lập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Hướng tiếp cận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Kiến trúc Microservices với Spring Boot 3.3 + Spring Cloud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Mobile Android native (Java, MVVM)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AI Recommendation (PhoBERT + ALS)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MỤC TIÊU ĐỀ TÀI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Thiết kế hệ thống TMĐT SmartVN với Microservices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Phát triển ứng dụng Mobile Android native (MVVM)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Triển khai 7 microservices: Eureka, Config, Gateway, User, Product, Order, Admin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Cache Redis cho Product Service (giảm latency 5.5x)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Xác thực JWT + OAuth2 (Google, GitHub)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Thanh toán trực tuyến VNPay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Circuit Breaker (Resilience4j) cho fault tolerance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AI Recommendation: PhoBERT + ALS Hybrid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Docker Compose deployment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Benchmark hiệu năng với Grafana k6</a:t>
            </a:r>
          </a:p>
        </p:txBody>
      </p:sp>
      <p:pic>
        <p:nvPicPr>
          <p:cNvPr id="6" name="Picture 5" descr="img-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5029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QUY TRÌNH MUA HÀNG — TRƯỚC KHI CÓ HỆ THỐNG</a:t>
            </a:r>
          </a:p>
        </p:txBody>
      </p:sp>
      <p:pic>
        <p:nvPicPr>
          <p:cNvPr id="5" name="Picture 4" descr="img-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5156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F8C8D"/>
                </a:solidFill>
              </a:defRPr>
            </a:pPr>
            <a:r>
              <a:t>Kịch bản A: Quy trình thủ công — giấy tờ, Excel, gọi điện, nhập tay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QUY TRÌNH MUA HÀNG — SAU KHI CÓ HỆ THỐNG</a:t>
            </a:r>
          </a:p>
        </p:txBody>
      </p:sp>
      <p:pic>
        <p:nvPicPr>
          <p:cNvPr id="5" name="Picture 4" descr="img-0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5156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F8C8D"/>
                </a:solidFill>
              </a:defRPr>
            </a:pPr>
            <a:r>
              <a:t>Kịch bản B: Quy trình tự động hoá qua Web App — đặt hàng, thanh toán, theo dõi online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FFFF">
                    <a:lumMod val="70000"/>
                  </a:srgbClr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KIẾN TRÚC HỆ THỐNG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SƠ ĐỒ KIẾN TRÚC TỔNG THỂ — CONTAINER VIEW</a:t>
            </a:r>
          </a:p>
        </p:txBody>
      </p:sp>
      <p:pic>
        <p:nvPicPr>
          <p:cNvPr id="5" name="Picture 4" descr="img-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5156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F8C8D"/>
                </a:solidFill>
              </a:defRPr>
            </a:pPr>
            <a:r>
              <a:t>Kiến trúc Microservices: API Gateway → Service Discovery → Business Services → Data Layer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SO SÁNH: MONOLITHIC vs MICROSERVICES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486400" cy="457200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Monolithic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solidFill>
                  <a:srgbClr val="2C3E50"/>
                </a:solidFill>
              </a:defRPr>
            </a:pPr>
            <a:r>
              <a:t>• Một khối code duy nhất</a:t>
            </a:r>
          </a:p>
          <a:p>
            <a:pPr>
              <a:spcBef>
                <a:spcPts val="600"/>
              </a:spcBef>
              <a:defRPr sz="1400">
                <a:solidFill>
                  <a:srgbClr val="2C3E50"/>
                </a:solidFill>
              </a:defRPr>
            </a:pPr>
            <a:r>
              <a:t>• Khó mở rộng theo chiều ngang</a:t>
            </a:r>
          </a:p>
          <a:p>
            <a:pPr>
              <a:spcBef>
                <a:spcPts val="600"/>
              </a:spcBef>
              <a:defRPr sz="1400">
                <a:solidFill>
                  <a:srgbClr val="2C3E50"/>
                </a:solidFill>
              </a:defRPr>
            </a:pPr>
            <a:r>
              <a:t>• Deploy toàn bộ khi thay đổi</a:t>
            </a:r>
          </a:p>
          <a:p>
            <a:pPr>
              <a:spcBef>
                <a:spcPts val="600"/>
              </a:spcBef>
              <a:defRPr sz="1400">
                <a:solidFill>
                  <a:srgbClr val="2C3E50"/>
                </a:solidFill>
              </a:defRPr>
            </a:pPr>
            <a:r>
              <a:t>• Một lỗi nhỏ → sập toàn hệ thống</a:t>
            </a:r>
          </a:p>
          <a:p>
            <a:pPr>
              <a:spcBef>
                <a:spcPts val="600"/>
              </a:spcBef>
              <a:defRPr sz="1400">
                <a:solidFill>
                  <a:srgbClr val="2C3E50"/>
                </a:solidFill>
              </a:defRPr>
            </a:pPr>
            <a:r>
              <a:t>• Công nghệ đơn nhất</a:t>
            </a:r>
          </a:p>
          <a:p>
            <a:pPr>
              <a:spcBef>
                <a:spcPts val="600"/>
              </a:spcBef>
              <a:defRPr sz="1400">
                <a:solidFill>
                  <a:srgbClr val="2C3E50"/>
                </a:solidFill>
              </a:defRPr>
            </a:pPr>
            <a:r>
              <a:t>• Dễ phát triển ban đầu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097280"/>
            <a:ext cx="54864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Microservices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solidFill>
                  <a:srgbClr val="2C3E50"/>
                </a:solidFill>
              </a:defRPr>
            </a:pPr>
            <a:r>
              <a:t>• Nhiều dịch vụ nhỏ, độc lập</a:t>
            </a:r>
          </a:p>
          <a:p>
            <a:pPr>
              <a:spcBef>
                <a:spcPts val="600"/>
              </a:spcBef>
              <a:defRPr sz="1400">
                <a:solidFill>
                  <a:srgbClr val="2C3E50"/>
                </a:solidFill>
              </a:defRPr>
            </a:pPr>
            <a:r>
              <a:t>• Mở rộng linh hoạt từng service</a:t>
            </a:r>
          </a:p>
          <a:p>
            <a:pPr>
              <a:spcBef>
                <a:spcPts val="600"/>
              </a:spcBef>
              <a:defRPr sz="1400">
                <a:solidFill>
                  <a:srgbClr val="2C3E50"/>
                </a:solidFill>
              </a:defRPr>
            </a:pPr>
            <a:r>
              <a:t>• Deploy từng phần độc lập</a:t>
            </a:r>
          </a:p>
          <a:p>
            <a:pPr>
              <a:spcBef>
                <a:spcPts val="600"/>
              </a:spcBef>
              <a:defRPr sz="1400">
                <a:solidFill>
                  <a:srgbClr val="2C3E50"/>
                </a:solidFill>
              </a:defRPr>
            </a:pPr>
            <a:r>
              <a:t>• Fault isolation — lỗi service này không ảnh hưởng khác</a:t>
            </a:r>
          </a:p>
          <a:p>
            <a:pPr>
              <a:spcBef>
                <a:spcPts val="600"/>
              </a:spcBef>
              <a:defRPr sz="1400">
                <a:solidFill>
                  <a:srgbClr val="2C3E50"/>
                </a:solidFill>
              </a:defRPr>
            </a:pPr>
            <a:r>
              <a:t>• Polyglot — mỗi service chọn công nghệ phù hợp</a:t>
            </a:r>
          </a:p>
          <a:p>
            <a:pPr>
              <a:spcBef>
                <a:spcPts val="600"/>
              </a:spcBef>
              <a:defRPr sz="1400">
                <a:solidFill>
                  <a:srgbClr val="2C3E50"/>
                </a:solidFill>
              </a:defRPr>
            </a:pPr>
            <a:r>
              <a:t>• Phức tạp hơn khi quản lý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CÁC MICROSERVICES TRONG HỆ THỐNG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Infrastructure Services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Eureka Server (port 8761) — Service Discovery &amp; Registry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Config Server (port 8888) — Quản lý cấu hình tập trung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API Gateway (port 8080) — Routing, JWT validation, CORS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Business Services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User Service (port 8081) — Quản lý người dùng, xác thực JWT/OAuth2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Product Service (port 8082) — Quản lý sản phẩm, cache Redis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Order Service (port 8083) — Quản lý đơn hàng, thanh toán VNPay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Admin Service (port 8084) — Quản trị, dashboard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Data Layer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MySQL 8.0 (port 3306) — Cơ sở dữ liệu chính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Redis 7 (port 6379) — Bộ nhớ đệm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FFFF">
                    <a:lumMod val="70000"/>
                  </a:srgbClr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CÔNG NGHỆ SỬ DỤNG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BẢNG TỔNG HỢP CÔNG NGHỆ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0972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5922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Công nghệ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Vai trò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Backend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Spring Boot 3.3 + Spring Cloud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Microservices framework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Service Discovery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Netflix Eureka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Service registry &amp; discovery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API Gateway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Spring Cloud Gateway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Routing, JWT, CORS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MySQL 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RDBMS chính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Cache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Redis 7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Bộ nhớ đệm, giảm latency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Spring Security + JWT + OAuth2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Xác thực &amp; phân quyền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VNPay Gateway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Thanh toán trực tuyến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Resilience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Resilience4j Circuit Breaker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Fault tolerance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Mobile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Android Java + MVVM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Ứng dụng di động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Frontend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React + Vite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Web UI (Customer &amp; Admin)</a:t>
                      </a:r>
                    </a:p>
                  </a:txBody>
                  <a:tcPr/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AI/ML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PhoBERT + ALS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Product recommendation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Container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Docker Compose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Deployment &amp; orchestration</a:t>
                      </a:r>
                    </a:p>
                  </a:txBody>
                  <a:tcPr/>
                </a:tc>
              </a:tr>
              <a:tr h="3592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Testing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Grafana k6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Performance benchmark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SPRING CLOUD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Service Discovery — Netflix Eureka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Service tự đăng ký khi khởi động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Client lookup để tìm service khác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Health check tự động, loại bỏ service chết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API Gateway — Spring Cloud Gateway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Điểm vào duy nhất cho tất cả request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Route dựa trên path: /api/users/** → User Service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JWT validation trước khi chuyển tiếp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CORS handling, rate limiting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Circuit Breaker — Resilience4j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Open circuit khi service downstream fail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Fallback response thay vì timeout treo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Half-open để thử service đã phục hồi chưa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REDIS CACHING — HIỆU NĂNG VƯỢT TRỘI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Cache-aside Pattern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Ứng dụng kiểm tra Redis trước khi query MySQL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Cache miss → query MySQL → set Redis → trả về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Cache hit → trả về trực tiếp (không cần query DB)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Kết quả Benchmark (k6)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Không cache: 47.81ms avg response time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Có Redis cache: 8.66ms avg (giảm 5.5 lần!)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Throughput: 196.8 → 248.5 req/s (tăng 26%)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Error rate: giảm xuống 0%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Chiến lược TTL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Product list: TTL 5 phút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Product detail: TTL 10 phút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Invalidate khi có update (write-through)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XÁC THỰC ĐA TẦNG — JWT &amp; OAuth2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JWT (JSON Web Token)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Access Token: hết hạn 15 phút, lưu memory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Refresh Token: hết hạn 7 ngày, lưu HTTP-only cookie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Interceptor tự động refresh khi access token hết hạn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OAuth2 (Google, GitHub)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Frontend redirect đến trang đăng nhập Google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Google callback với authorization code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Backend đổi code lấy user info, tạo/tìm tài khoản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Trả JWT token cho frontend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API Key cho Inter-service Communication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Mỗi service có API key riêng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Header X-API-Key khi gọi nội bộ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Không cần JWT cho service-to-service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FFFF">
                    <a:lumMod val="70000"/>
                  </a:srgbClr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THIẾT KẾ CƠ SỞ DỮ LIỆU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SƠ ĐỒ ERD — CƠ SỞ DỮ LIỆU</a:t>
            </a:r>
          </a:p>
        </p:txBody>
      </p:sp>
      <p:pic>
        <p:nvPicPr>
          <p:cNvPr id="5" name="Picture 4" descr="img-07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5156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F8C8D"/>
                </a:solidFill>
              </a:defRPr>
            </a:pPr>
            <a:r>
              <a:t>Entity Relationship Diagram: users, roles, addresses và các bảng liên quan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CÁC BẢNG CHÍNH TRONG HỆ THỐNG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0972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Bảng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Mô tả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users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User Service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Thông tin người dùng, xác thực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roles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User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Phân quyền: Admin, Staff, Customer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addresses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User Service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Địa chỉ giao hàng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products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Product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Danh mục sản phẩm điện tử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product_images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Product Service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Hình ảnh sản phẩm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categories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Product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Phân loại sản phẩm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orders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Order Service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Đơn hàng và trạng thái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order_items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Order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Chi tiết từng mặt hàng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payments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Order Service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Giao dịch VNPay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reviews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Admin 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Đánh giá sản phẩm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FFFF">
                    <a:lumMod val="70000"/>
                  </a:srgbClr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RECOMMENDATION SYSTEM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HỆ THỐNG GỢI Ý SẢN PHẨM — HYBRID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Tại sao cần Recommendation?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Người dùng không muốn duyệt hàng nghìn sản phẩm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Cá nhân hoá trải nghiệm mua sắm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Tăng doanh thu qua cross-sell &amp; up-sell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Hybrid = Content-Based + Collaborative Filtering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Content-Based: PhoBERT phân tích mô tả sản phẩm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Collaborative: ALS học từ lịch sử mua hàng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Kết hợp điểm từ cả 2 model → gợi ý tốt nhất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Xử lý Cold Start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User mới → dùng Content-Based (không cần lịch sử)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Sản phẩm mới → dùng Collaborative (từ user tương tự)</a:t>
            </a:r>
          </a:p>
        </p:txBody>
      </p:sp>
      <p:pic>
        <p:nvPicPr>
          <p:cNvPr id="6" name="Picture 5" descr="img-0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5029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PHOBERT — CONTENT-BASED RECOMMENDATION</a:t>
            </a:r>
          </a:p>
        </p:txBody>
      </p:sp>
      <p:pic>
        <p:nvPicPr>
          <p:cNvPr id="5" name="Picture 4" descr="img-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5156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F8C8D"/>
                </a:solidFill>
              </a:defRPr>
            </a:pPr>
            <a:r>
              <a:t>PhoBERT (VinAI): Pre-trained Vietnamese language model cho phân tích nội dung sản phẩm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ALS — COLLABORATIVE FILTERING PIPELINE</a:t>
            </a:r>
          </a:p>
        </p:txBody>
      </p:sp>
      <p:pic>
        <p:nvPicPr>
          <p:cNvPr id="5" name="Picture 4" descr="img-0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5156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F8C8D"/>
                </a:solidFill>
              </a:defRPr>
            </a:pPr>
            <a:r>
              <a:t>ALS Training Pipeline: Data extraction → Transformation → Model training → Storage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HYBRID RECOMMENDATION — SEQUENCE DIAGRAM</a:t>
            </a:r>
          </a:p>
        </p:txBody>
      </p:sp>
      <p:pic>
        <p:nvPicPr>
          <p:cNvPr id="5" name="Picture 4" descr="img-0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5156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F8C8D"/>
                </a:solidFill>
              </a:defRPr>
            </a:pPr>
            <a:r>
              <a:t>Luồng gợi ý: Frontend → API Gateway → Recommend Service → PhoBERT + ALS → Hybrid Merge → Response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FFFF">
                    <a:lumMod val="70000"/>
                  </a:srgbClr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ỨNG DỤNG MOBILE ANDROID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KIẾN TRÚC ỨNG DỤNG MOBILE — MVVM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Tech Stack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Java + Android SDK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Retrofit 2 cho REST API calls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Room Database cho offline-first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LiveData + ViewModel cho reactive UI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Material Design 3 cho giao diện hiện đại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Features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Đăng ký / Đăng nhập (JWT + OAuth2 Google)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Duyệt sản phẩm, tìm kiếm, lọc theo danh mục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Giỏ hàng (offline + sync với server)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Đặt hàng &amp; thanh toán VNPay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Theo dõi trạng thái đơn hàng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Quản lý tài khoản &amp; địa chỉ</a:t>
            </a:r>
          </a:p>
        </p:txBody>
      </p:sp>
      <p:pic>
        <p:nvPicPr>
          <p:cNvPr id="6" name="Picture 5" descr="img-0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5029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USE CASE DIAGRAM — ỨNG DỤNG MOBILE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943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Khách vãng lai (Guest)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Xem danh sách sản phẩm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Tìm kiếm sản phẩm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Xem chi tiết sản phẩm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Xem đánh giá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Khách hàng (Logged-in)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Tất cả quyền của Guest +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Nhận gợi ý sản phẩm (AI-Powered)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Quản lý giỏ hàng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Đặt hàng &amp; thanh toán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Đánh giá sản phẩm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Quản lý tài khoản &amp; địa chỉ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Xem lịch sử đơn hàng</a:t>
            </a:r>
          </a:p>
        </p:txBody>
      </p:sp>
      <p:pic>
        <p:nvPicPr>
          <p:cNvPr id="6" name="Picture 5" descr="img-0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71600"/>
            <a:ext cx="50292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FFFF">
                    <a:lumMod val="70000"/>
                  </a:srgbClr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GIAO DIỆN HỆ THỐNG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GIAO DIỆN ĐĂNG NHẬP</a:t>
            </a:r>
          </a:p>
        </p:txBody>
      </p:sp>
      <p:pic>
        <p:nvPicPr>
          <p:cNvPr id="5" name="Picture 4" descr="img-08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5156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F8C8D"/>
                </a:solidFill>
              </a:defRPr>
            </a:pPr>
            <a:r>
              <a:t>Login page: Email/Password + Social login (Google, GitHub)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GIAO DIỆN DANH SÁCH SẢN PHẨM</a:t>
            </a:r>
          </a:p>
        </p:txBody>
      </p:sp>
      <p:pic>
        <p:nvPicPr>
          <p:cNvPr id="5" name="Picture 4" descr="img-08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5156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F8C8D"/>
                </a:solidFill>
              </a:defRPr>
            </a:pPr>
            <a:r>
              <a:t>Product listing: Category filter, price range, product cards với Sale badge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GIAO DIỆN QUẢN LÝ TÀI KHOẢN</a:t>
            </a:r>
          </a:p>
        </p:txBody>
      </p:sp>
      <p:pic>
        <p:nvPicPr>
          <p:cNvPr id="5" name="Picture 4" descr="img-09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5156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F8C8D"/>
                </a:solidFill>
              </a:defRPr>
            </a:pPr>
            <a:r>
              <a:t>User profile: Profile Info, Addresses, Orders, My Reviews tabs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GIAO DIỆN ĐẶT HÀNG THÀNH CÔNG</a:t>
            </a:r>
          </a:p>
        </p:txBody>
      </p:sp>
      <p:pic>
        <p:nvPicPr>
          <p:cNvPr id="5" name="Picture 4" descr="img-09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5156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F8C8D"/>
                </a:solidFill>
              </a:defRPr>
            </a:pPr>
            <a:r>
              <a:t>Order confirmation: Order ID, Total Amount, Payment Method (VNPay), Shipping address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ADMIN DASHBOARD — QUẢN LÝ NGƯỜI DÙNG</a:t>
            </a:r>
          </a:p>
        </p:txBody>
      </p:sp>
      <p:pic>
        <p:nvPicPr>
          <p:cNvPr id="5" name="Picture 4" descr="img-1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5156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F8C8D"/>
                </a:solidFill>
              </a:defRPr>
            </a:pPr>
            <a:r>
              <a:t>Admin panel: User management với Role, Status, Warnings, Actions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ADMIN DASHBOARD — CHỈNH SỬA SẢN PHẨM</a:t>
            </a:r>
          </a:p>
        </p:txBody>
      </p:sp>
      <p:pic>
        <p:nvPicPr>
          <p:cNvPr id="5" name="Picture 4" descr="img-1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5156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F8C8D"/>
                </a:solidFill>
              </a:defRPr>
            </a:pPr>
            <a:r>
              <a:t>Product edit: Name, Brand, Color, Description, Technical specs (weight, RAM, battery...)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ADMIN DASHBOARD — QUẢN LÝ ĐÁNH GIÁ</a:t>
            </a:r>
          </a:p>
        </p:txBody>
      </p:sp>
      <p:pic>
        <p:nvPicPr>
          <p:cNvPr id="5" name="Picture 4" descr="img-1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5156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7F8C8D"/>
                </a:solidFill>
              </a:defRPr>
            </a:pPr>
            <a:r>
              <a:t>Review management: Star ratings, review text, user info, delete action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FFFF">
                    <a:lumMod val="70000"/>
                  </a:srgbClr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KIỂM THỬ &amp; ĐÁNH GIÁ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KẾT QUẢ BENCHMARK — REDIS CACHE IMPACT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0972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100584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Không Cache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Redis Cache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Cải thiện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Avg Response Time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47.81ms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8.66ms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5.5x nhanh hơn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Throughput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196.8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248.5 req/s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+26%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Error Rate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&gt; 0%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0%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Hoàn hảo</a:t>
                      </a:r>
                    </a:p>
                  </a:txBody>
                  <a:tcPr>
                    <a:solidFill>
                      <a:srgbClr val="D6EAF8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P95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~120ms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~25ms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C3E50"/>
                          </a:solidFill>
                        </a:defRPr>
                      </a:pPr>
                      <a:r>
                        <a:t>4.8x nhanh hơn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ĐÁNH GIÁ TỔNG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Ưu điểm hệ thống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Microservices cho phép scale và deploy độc lập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Redis cache giảm latency 5.5 lần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JWT + OAuth2 bảo mật mạnh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Circuit Breaker đảm bảo fault tolerance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AI Recommendation cá nhân hoá trải nghiệm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Docker Compose deployment đơn giản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Hạn chế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Chưa triển khai production thực tế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Chưa có CI/CD pipeline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Push notification (FCM) chưa hoàn thiện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Chưa có monitoring (Prometheus/Grafana)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Frontend chưa tối ưu SEO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86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200" b="1">
                <a:solidFill>
                  <a:srgbClr val="FFFFFF">
                    <a:lumMod val="70000"/>
                  </a:srgbClr>
                </a:solidFill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KẾT LUẬN &amp; HƯỚNG PHÁT TRIỂN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KẾT QUẢ ĐẠT ĐƯỢC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Hệ thống TMĐT SmartVN hoàn chỉnh với 7 microservices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Ứng dụng Mobile Android native đầy đủ tính năng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AI Recommendation System (PhoBERT + ALS Hybrid)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Hiệu năng ấn tượng: 5.5x nhanh hơn với Redis cache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Bảo mật đa tầng: JWT + OAuth2 + API Key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Fault tolerance với Circuit Breaker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Docker Compose deployment一键启动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>
                <a:solidFill>
                  <a:srgbClr val="FFFFFF"/>
                </a:solidFill>
              </a:defRPr>
            </a:pPr>
            <a:r>
              <a:t>SmartVN — Hệ thống Thương mại Điện tử Microservices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HƯỚNG PHÁT TRIỂN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Ngắn hạn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Triển khai CI/CD pipeline (GitHub Actions)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Thêm monitoring (Prometheus + Grafana)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Push notification qua Firebase Cloud Messaging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Tối ưu SEO cho Customer Frontend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</a:p>
          <a:p>
            <a:pPr>
              <a:spcBef>
                <a:spcPts val="1600"/>
              </a:spcBef>
              <a:defRPr sz="1800" b="1">
                <a:solidFill>
                  <a:srgbClr val="2E86DE"/>
                </a:solidFill>
              </a:defRPr>
            </a:pPr>
            <a:r>
              <a:t>Dài hạn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Migrate sang Kubernetes cho orchestration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Thêm Elasticsearch cho full-text search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Tích hợp chatbot AI hỗ trợ khách hàng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Multi-language support (i18n)</a:t>
            </a:r>
          </a:p>
          <a:p>
            <a:pPr>
              <a:spcBef>
                <a:spcPts val="600"/>
              </a:spcBef>
              <a:defRPr sz="1600">
                <a:solidFill>
                  <a:srgbClr val="2C3E50"/>
                </a:solidFill>
              </a:defRPr>
            </a:pPr>
            <a:r>
              <a:t>• Mobile app iOS (Flutter cross-platform)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6400800" cy="6400800"/>
          </a:xfrm>
          <a:prstGeom prst="ellipse">
            <a:avLst/>
          </a:prstGeom>
          <a:solidFill>
            <a:srgbClr val="2E86DE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9144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CẢM ƠN THẦY VÀ CÁC BẠN!</a:t>
            </a:r>
          </a:p>
          <a:p>
            <a:pPr algn="ctr">
              <a:spcBef>
                <a:spcPts val="2000"/>
              </a:spcBef>
              <a:defRPr sz="2400">
                <a:solidFill>
                  <a:srgbClr val="D6EAF8"/>
                </a:solidFill>
              </a:defRPr>
            </a:pPr>
            <a:r>
              <a:t>Xin cảm ơn!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D6EAF8"/>
                </a:solidFill>
              </a:defRPr>
            </a:pPr>
            <a:r>
              <a:t>Học viện Công nghệ Bưu chính Viễn thông</a:t>
            </a:r>
            <a:br/>
            <a:r>
              <a:t>Khoa Công nghệ Thông tin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