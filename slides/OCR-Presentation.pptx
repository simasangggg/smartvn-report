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2E86DE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TRÍCH XUẤT THÔNG TIN</a:t>
            </a:r>
            <a:br/>
            <a:r>
              <a:t>HÓA ĐƠN TIẾNG VIỆT TỪ ẢNH</a:t>
            </a:r>
          </a:p>
          <a:p>
            <a:pPr>
              <a:spcBef>
                <a:spcPts val="1400"/>
              </a:spcBef>
              <a:defRPr sz="1800">
                <a:solidFill>
                  <a:srgbClr val="D6EAF8"/>
                </a:solidFill>
              </a:defRPr>
            </a:pPr>
            <a:r>
              <a:t>Pipeline PaddleOCR — VietOCR — LayoutLMv3</a:t>
            </a:r>
          </a:p>
          <a:p>
            <a:pPr>
              <a:spcBef>
                <a:spcPts val="2000"/>
              </a:spcBef>
              <a:defRPr sz="1600">
                <a:solidFill>
                  <a:srgbClr val="7F8C8D"/>
                </a:solidFill>
              </a:defRPr>
            </a:pPr>
            <a:r>
              <a:t>Đồ án Môn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EAF8"/>
                </a:solidFill>
              </a:defRPr>
            </a:pPr>
            <a:r>
              <a:t>Học viện Công nghệ Bưu chính Viễn thông</a:t>
            </a:r>
            <a:br/>
            <a:r>
              <a:t>Khoa Công nghệ Thông tin 2 — Tháng 6, 2026</a:t>
            </a:r>
          </a:p>
        </p:txBody>
      </p:sp>
    </p:spTree>
  </p:cSld>
  <p:clrMapOvr>
    <a:masterClrMapping/>
  </p:clrMapOvr>
  <p:transition spd="med" advTm="2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NỘI DUNG TRÌNH BÀY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1. Mở đầu — Bối cảnh bài toán</a:t>
            </a: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2. Tổng quan — Mô hình hóa &amp; Pipeline</a:t>
            </a: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3. Phân loại &amp; Tiến hóa — 3 thế hệ thuật toán</a:t>
            </a: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4. Trực giác — Con người đọc hóa đơn ra sao?</a:t>
            </a: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5. Toán học hóa — Công thức cốt lõi</a:t>
            </a: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6. Khoảng cách — Lý thuyết vs Thực tế</a:t>
            </a: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7. Thách thức — Rào cản &amp; Hướng phát triển</a:t>
            </a: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8. Kết luận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MỞ ĐẦU</a:t>
            </a:r>
          </a:p>
        </p:txBody>
      </p:sp>
    </p:spTree>
  </p:cSld>
  <p:clrMapOvr>
    <a:masterClrMapping/>
  </p:clrMapOvr>
  <p:transition spd="med" advTm="1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BỐI CẢNH 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Mỗi ngày, hàng triệu giao dịch thương mại tại Việt Nam tạo ra hàng triệu tờ hóa đơn giấy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Kế toán viên gõ tay từng con số → sai sót nhập liệu thường xuyên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Thách thức đọc hóa đơn thực tế: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Font chữ tùy ý, góc chụp nghiêng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Ánh sáng không đều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Tiếng Việt với đầy đủ dấu thanh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Cần biến **ảnh hóa đơn** thành **dữ liệu có cấu trúc**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CÁC TÌNH HUỐNG THỰC TẾ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0972800" cy="3657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Kịch bản A — Kế toán doanh nghiệp nhỏ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0972800" cy="82296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300 hóa đơn công tác phí, mất 2–3 ngày nhập thủ công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109728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Kịch bản B — Ứng dụng chi tiêu cá nhân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1097280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Chụp ảnh hóa đơn → tự động điền ngày, siêu thị, tổng tiền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09728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Kịch bản C — Kiểm toán &amp; Tuân thủ thuế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0972800" cy="8229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Xác minh hàng nghìn hóa đơn VAT tự động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86DE"/>
                </a:solidFill>
              </a:defRPr>
            </a:pPr>
            <a:r>
              <a:t>→ Nhu cầu chung: Document Information Extraction (DIE)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TỔNG QUAN BÀI TOÁN</a:t>
            </a:r>
          </a:p>
        </p:txBody>
      </p:sp>
    </p:spTree>
  </p:cSld>
  <p:clrMapOvr>
    <a:masterClrMapping/>
  </p:clrMapOvr>
  <p:transition spd="med" advTm="1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MÔ HÌNH HÓA — BA TẦNG XỬ LÝ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188720"/>
            <a:ext cx="9144000" cy="3657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Tầng 3: Trích xuất thực thể có cấu trúc (KIE)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9144000" cy="100584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LayoutLMv3 — Multi-modal Transformer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560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86DE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926080"/>
            <a:ext cx="9144000" cy="36576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Tầng 2: Nhận dạng ký tự (OCR Recognition)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291840"/>
            <a:ext cx="9144000" cy="10058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VietOCR — Seq2Seq + 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86DE"/>
                </a:solidFill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663440"/>
            <a:ext cx="91440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Tầng 1: Phát hiện vùng chữ (Text Detection)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029200"/>
            <a:ext cx="91440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PaddleOCR — DB (Differentiable Binarization)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ĐẦU VÀO &amp; ĐẦU 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0972800" cy="3657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Đầu vào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0972800" cy="73152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Ảnh JPEG/PNG hóa đơn chụp bằng điện thoại (nghiêng, nhòe, ánh sáng không đều)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109728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Đầu ra — JSON có ngữ nghĩa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10972800" cy="28346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{ "store_name": "Circle K", "date": "2024-05-27", "total": 87000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  "items": [ { "name": "Cafe sua da", "qty": 2, "price": 29000 }, ... ] }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PIPELINE XỬ LÝ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286000"/>
            <a:ext cx="1463040" cy="914400"/>
          </a:xfrm>
          <a:prstGeom prst="roundRect">
            <a:avLst/>
          </a:prstGeom>
          <a:solidFill>
            <a:srgbClr val="F8F9F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2C3E50"/>
                </a:solidFill>
              </a:defRPr>
            </a:pPr>
            <a:r>
              <a:t>Ảnh hóa đơn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2286000"/>
            <a:ext cx="1463040" cy="914400"/>
          </a:xfrm>
          <a:prstGeom prst="roundRect">
            <a:avLst/>
          </a:prstGeom>
          <a:solidFill>
            <a:srgbClr val="D6EAF8"/>
          </a:solidFill>
          <a:ln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2C3E50"/>
                </a:solidFill>
              </a:defRPr>
            </a:pPr>
            <a:r>
              <a:t>PaddleOCR</a:t>
            </a:r>
            <a:br/>
            <a:r>
              <a:t>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286000"/>
            <a:ext cx="1463040" cy="914400"/>
          </a:xfrm>
          <a:prstGeom prst="roundRect">
            <a:avLst/>
          </a:prstGeom>
          <a:solidFill>
            <a:srgbClr val="F8F9F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2C3E50"/>
                </a:solidFill>
              </a:defRPr>
            </a:pPr>
            <a:r>
              <a:t>Bounding</a:t>
            </a:r>
            <a:br/>
            <a:r>
              <a:t>Boxes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286000"/>
            <a:ext cx="1463040" cy="914400"/>
          </a:xfrm>
          <a:prstGeom prst="roundRect">
            <a:avLst/>
          </a:prstGeom>
          <a:solidFill>
            <a:srgbClr val="D6EAF8"/>
          </a:solidFill>
          <a:ln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2C3E50"/>
                </a:solidFill>
              </a:defRPr>
            </a:pPr>
            <a:r>
              <a:t>VietOCR</a:t>
            </a:r>
            <a:br/>
            <a:r>
              <a:t>Recognition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286000"/>
            <a:ext cx="1463040" cy="914400"/>
          </a:xfrm>
          <a:prstGeom prst="roundRect">
            <a:avLst/>
          </a:prstGeom>
          <a:solidFill>
            <a:srgbClr val="F8F9F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2C3E50"/>
                </a:solidFill>
              </a:defRPr>
            </a:pPr>
            <a:r>
              <a:t>Text + BBox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572000"/>
            <a:ext cx="1463040" cy="914400"/>
          </a:xfrm>
          <a:prstGeom prst="roundRect">
            <a:avLst/>
          </a:prstGeom>
          <a:solidFill>
            <a:srgbClr val="D6EAF8"/>
          </a:solidFill>
          <a:ln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2C3E50"/>
                </a:solidFill>
              </a:defRPr>
            </a:pPr>
            <a:r>
              <a:t>LayoutLMv3</a:t>
            </a:r>
            <a:br/>
            <a:r>
              <a:t>KIE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572000"/>
            <a:ext cx="146304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2C3E50"/>
                </a:solidFill>
              </a:defRPr>
            </a:pPr>
            <a:r>
              <a:t>JSON</a:t>
            </a:r>
            <a:br/>
            <a:r>
              <a:t>Cấu trúc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86DE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86DE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688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86DE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688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86DE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83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86DE"/>
                </a:solidFill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754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E86DE"/>
                </a:solidFill>
              </a:defRPr>
            </a:pPr>
            <a:r>
              <a:t>←</a:t>
            </a:r>
          </a:p>
        </p:txBody>
      </p:sp>
    </p:spTree>
  </p:cSld>
  <p:clrMapOvr>
    <a:masterClrMapping/>
  </p:clrMapOvr>
  <p:transition spd="med" advTm="800">
    <p:wip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PHÂN LOẠI &amp; TIẾN HÓA</a:t>
            </a:r>
          </a:p>
        </p:txBody>
      </p:sp>
    </p:spTree>
  </p:cSld>
  <p:clrMapOvr>
    <a:masterClrMapping/>
  </p:clrMapOvr>
  <p:transition spd="med" advTm="1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TEXT DETECTION — Từ sliding window đến anchor-free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657600" cy="36576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Thế hệ 1 (trước 2015)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365760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MSER, SWT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Phân tích pixel theo màu sắc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Chỉ hoạt động với ảnh sạch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566160"/>
            <a:ext cx="36576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Thế hệ 2 (2015–2017)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931920"/>
            <a:ext cx="3657600" cy="19202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CTPN, TextBoxes++, SegLink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CNN-based với Anchor Boxes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Khó phát hiện văn bản cong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7680960" cy="3657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★ Thế hệ 3 (2018–nay) —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63040"/>
            <a:ext cx="7680960" cy="438912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DB (Differentiable Binarization)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Xương sống của PaddleOCR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Dự đoán probability map per pixel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Ngưỡng có thể học được (differentiable threshold)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Tối ưu cho CPU/mobile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TEXT RECOGNITION — Từ template matching đến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657600" cy="36576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Thế hệ 1 (trước 2014)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365760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Tesseract v3, template matching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Tách từng ký tự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Yêu cầu font rõ ràng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566160"/>
            <a:ext cx="36576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Thế hệ 2 (2015–2018)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931920"/>
            <a:ext cx="3657600" cy="19202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CRNN + CTC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CNN + BiLSTM + CTC loss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Nền tảng OCR hiện đại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7680960" cy="3657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★ Thế hệ 3 (2018–nay) — VietOCR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63040"/>
            <a:ext cx="7680960" cy="438912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Seq2Seq + Attention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VGG/ResNet encoder + Transformer decoder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Xử lý dấu thanh tiếng Việt tốt hơn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Pretrain trên 5M+ ảnh text tiếng Việt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60+ font chữ thông dụng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KEY INFORMATION EXTRACTION — Từ rule-based đến Multi-modal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657600" cy="36576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Thế hệ 1 — Rule-based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365760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Regex, heuristic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Nhanh, không cần training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Vỡ ngay khi gặp format mới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566160"/>
            <a:ext cx="36576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Thế hệ 2 — BERT 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931920"/>
            <a:ext cx="3657600" cy="19202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Token classification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Bỏ qua thông tin vị trí không gian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7680960" cy="3657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★ Thế hệ 3 — LayoutLMv3 (Microsoft, 2022)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63040"/>
            <a:ext cx="7680960" cy="438912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Kết hợp 3 nguồn: text OCR + bbox + patch ảnh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Unified self-attention qua cả 3 modality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Pre-training: MLM + MIM + Text-Image Alignment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Đột phá cho Document AI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TRỰC GIÁC &amp; TƯ DUY</a:t>
            </a:r>
          </a:p>
        </p:txBody>
      </p:sp>
    </p:spTree>
  </p:cSld>
  <p:clrMapOvr>
    <a:masterClrMapping/>
  </p:clrMapOvr>
  <p:transition spd="med" advTm="10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CON NGƯỜI ĐỌC HÓA ĐƠN NHƯ THẾ NÀO?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1. Vị trí không gian mang ngữ nghĩa: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"Tổng cộng" → góc dưới phải, font lớn, in đậm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Tên cửa hàng → trên cùng, canh giữa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2. Căn lề là thông tin: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Giá tiền căn phải, tên mặt hàng căn trái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3. Gần nhau → liên quan: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"2 x 29,000" và "58,000" cùng dòng → cùng mặt hàng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4. Pattern lặp lại trong vùng bảng: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5 dòng có cấu trúc [tên | số | số] → bảng mặt hàng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MÔ HÌNH MÔ PHỎNG TRỰC GIÁC CON NGƯỜI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Trực giác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Mô hình mô phỏng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Vùng chữ có cấu trúc pixel đặc biệt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PaddleOCR Detection: học probability map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Đọc ký tự cần ngữ cảnh xung quanh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VietOCR: attention "nhìn lại" toàn bộ ảnh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Vị trí + nội dung + hình ảnh cùng quyết định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LayoutLMv3: fuse 3 luồng trong transformer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669280"/>
            <a:ext cx="109728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Giả định ngầm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6035040"/>
            <a:ext cx="10972800" cy="3657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Mỗi mô hình đều có giả định riêng → khi giả định vi phạm, mô hình suy giảm chất lượng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TOÁN HỌC HÓA</a:t>
            </a:r>
          </a:p>
        </p:txBody>
      </p:sp>
    </p:spTree>
  </p:cSld>
  <p:clrMapOvr>
    <a:masterClrMapping/>
  </p:clrMapOvr>
  <p:transition spd="med" advTm="10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PaddleOCR — DB (Differentiable Binarization)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0972800" cy="3657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Phép toán chủ đạo: Segmentation + Adaptive Thresholding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0972800" cy="36576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Mô hình học 2 map song song từ feature map F: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P = σ(Conv(F))  ← Probability map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T = σ(Conv'(F))  ← Threshold map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B̂ = σ((P - T) / k)  ← Binary map (differentiable)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Bí quyết: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σ((P-T)/k) với k=50 xấp xỉ hàm step nhưng vẫn có gradient để backprop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Loss: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L = L_bce(P, Gp) + α·L_bce(B̂, Gb) + β·L1(T, Gt)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Tham số: ResNet-18/50 + FPN, khoảng 10–27M tham số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VietOCR — Seq2Seq với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0972800" cy="3657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Phép toán chủ đạo: Cross-Attention trong Transformer decoder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0972800" cy="36576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Pipeline: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F = CNN_Encoder(ảnh)  → shape: (H/4, W/4, C)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F_flat = reshape(F) + positional_embed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h_t = TransformerDecoder(h_{t-1}, F_flat)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p(y_t) = Softmax(Linear(h_t))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Attention: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α_{t,s} = softmax(Q_t · K_s / √d_k) — cho phép 'nhìn' vào vùng feature tương ứng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Đặc biệt tiếng Việt: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Khi sinh "ề", decoder attend mạnh vào vùng có dấu phụ kép (mũ + huyền)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Vocab: 130–150 ký tự Unicode tiếng Việt + dấu câu + số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LayoutLMv3 — Multi-modal Transformer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0972800" cy="3657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Phép toán chủ đạo: Unified Self-Attention qua cả 3 modality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0972800" cy="36576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Input token i: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e_i = E_text(token_i) + E_1D(pos_i) + E_2D(x1,y1,x2,y2,w,h)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Image patch j: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v_j = LinearProj(patch_j) + E_img_pos(j)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Concatenate → Transformer → Contextualized representations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Pre-training objectives: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Masked Language Modeling (MLM) trên text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Masked Image Modeling (MIM) trên ảnh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Text-Image Alignment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KHOẢNG CÁCH GIỮA LÝ THUYẾT VÀ THỰC TẾ</a:t>
            </a:r>
          </a:p>
        </p:txBody>
      </p:sp>
    </p:spTree>
  </p:cSld>
  <p:clrMapOvr>
    <a:masterClrMapping/>
  </p:clrMapOvr>
  <p:transition spd="med" advTm="1000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HÀM MẤT MÁT &amp; LÝ DO LỰA CHỌN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Tầng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Loss Function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Tại sao?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Detection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BCE + L1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Gradient ổn định, robust với outlier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Cross-Entropy chuỗi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Smooth, vi phân được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KIE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Cross-Entropy/token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Tính được tại từng token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Tại sao không dùng Metric làm Loss?</a:t>
            </a:r>
          </a:p>
          <a:p>
            <a:pPr>
              <a:spcBef>
                <a:spcPts val="600"/>
              </a:spcBef>
              <a:defRPr sz="1500">
                <a:solidFill>
                  <a:srgbClr val="E74C3C"/>
                </a:solidFill>
              </a:defRPr>
            </a:pPr>
            <a:r>
              <a:t>⚠ Field Exact Match: không có gradient</a:t>
            </a:r>
          </a:p>
          <a:p>
            <a:pPr>
              <a:spcBef>
                <a:spcPts val="600"/>
              </a:spcBef>
              <a:defRPr sz="1500">
                <a:solidFill>
                  <a:srgbClr val="E74C3C"/>
                </a:solidFill>
              </a:defRPr>
            </a:pPr>
            <a:r>
              <a:t>⚠ CER (edit distance): không liên tục</a:t>
            </a:r>
          </a:p>
          <a:p>
            <a:pPr>
              <a:spcBef>
                <a:spcPts val="600"/>
              </a:spcBef>
              <a:defRPr sz="1500">
                <a:solidFill>
                  <a:srgbClr val="E74C3C"/>
                </a:solidFill>
              </a:defRPr>
            </a:pPr>
            <a:r>
              <a:t>⚠ Entity F1: phụ thuộc ngưỡng confidence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→ Dùng CE làm Loss, F1/CER/Exact Match chỉ để đánh giá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HỆ QUẢ THỰC TẾ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09728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⚠ Điểm đau lớn nhất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0972800" cy="14630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Mô hình có thể đạt CER rất thấp (98% ký tự đúng) nhưng Field Exact Match chỉ 70%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Chỉ cần sai 1 ký tự trong '87.000' thành '87.500' là cả trường total sai hoàn toàn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Khả năng mở rộng Loss: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Thêm class mới: DISCOUNT, TAX_CODE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Weighted loss: ưu tiên TOTAL, DATE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Consistency constraint: Σ(subtotals) ≈ total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THÁCH THỨC &amp; RÀO CẢN</a:t>
            </a:r>
          </a:p>
        </p:txBody>
      </p:sp>
    </p:spTree>
  </p:cSld>
  <p:clrMapOvr>
    <a:masterClrMapping/>
  </p:clrMapOvr>
  <p:transition spd="med" advTm="1000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TRỞ NGẠI ĐÃ GIẢI QUYẾT &amp; CÒN TỒN Đọng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566928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 Đã giải quyết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5669280" cy="43891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Văn bản đa hướng, cong → DB, ABCNet (bezier curves)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Font chữ đa dạng tiếng Việt → VietOCR pretrained + augmentation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Hiểu layout cơ bản → 2D positional embedding (LayoutLM)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66928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✗ Còn tồn đọng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669280" cy="43891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Ảnh chất lượng thấp (run, nhòe, phản chiếu) — CER tụt 85–90%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Hóa đơn in nhiệt bị phai — contrast rất thấp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Zero-shot generalization — cần fine-tune cho mỗi template mới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Dữ liệu tiếng Việt khan hiếm, hạ tầng GPU đắt</a:t>
            </a:r>
          </a:p>
          <a:p>
            <a:pPr>
              <a:spcBef>
                <a:spcPts val="300"/>
              </a:spcBef>
              <a:defRPr sz="1200">
                <a:solidFill>
                  <a:srgbClr val="2C3E50"/>
                </a:solidFill>
              </a:defRPr>
            </a:pPr>
            <a:r>
              <a:t>• Relation Extraction phức tạp (20+ mặt hàng)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HƯỚNG ĐI TƯƠNG 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1. End-to-end Document Understanding: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Donut, Nougat — bỏ qua OCR, ảnh → JSON trực tiếp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2. Large Vision-Language Models (LVLMs):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GPT-4V, Gemini — zero-shot, không cần fine-tune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3. Self-supervised pretraining trên tài liệu Việt: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Corpus hóa đơn/biểu mẫu tiếng Việt quy mô lớn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2E86DE"/>
                </a:solidFill>
              </a:defRPr>
            </a:pPr>
            <a:r>
              <a:t>4. Synthetic data generation: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Tạo hóa đơn giả + domain randomization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KẾT LUẬN</a:t>
            </a:r>
          </a:p>
        </p:txBody>
      </p:sp>
    </p:spTree>
  </p:cSld>
  <p:clrMapOvr>
    <a:masterClrMapping/>
  </p:clrMapOvr>
  <p:transition spd="med" advTm="1000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Trích xuất Hóa đơn Tiếng Việt — Pipeline PaddleOCR • VietOCR • LayoutLMv3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Bài toán trích xuất hóa đơn tiếng Việt đòi hỏi giải quyết đồng thời 3 thách thức: **phát hiện vùng chữ**, **nhận dạng ký tự**, **hiểu cấu trúc ngữ nghĩa**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Pipeline **PaddleOCR → VietOCR → LayoutLMv3** là lựa chọn hợp lý hiện tại với pretrained weights chất lượng tốt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Nhược điểm cố hữu: **lỗi tích lũy qua từng tầng**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Ranh giới giữa OCR+NLP pipeline và end-to-end LVLM đang dần mờ đi</a:t>
            </a:r>
          </a:p>
        </p:txBody>
      </p:sp>
    </p:spTree>
  </p:cSld>
  <p:clrMapOvr>
    <a:masterClrMapping/>
  </p:clrMapOvr>
  <p:transition spd="med" advTm="800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2E86DE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CẢM ƠN THẦY VÀ CÁC BẠN!</a:t>
            </a:r>
          </a:p>
          <a:p>
            <a:pPr algn="ctr">
              <a:spcBef>
                <a:spcPts val="2000"/>
              </a:spcBef>
              <a:defRPr sz="2400">
                <a:solidFill>
                  <a:srgbClr val="D6EAF8"/>
                </a:solidFill>
              </a:defRPr>
            </a:pPr>
            <a:r>
              <a:t>Xin cảm ơn!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6EAF8"/>
                </a:solidFill>
              </a:defRPr>
            </a:pPr>
            <a:r>
              <a:t>Học viện Công nghệ Bưu chính Viễn thông — Khoa CNTT2</a:t>
            </a:r>
            <a:br/>
            <a:r>
              <a:t>Tháng 6, 2026</a:t>
            </a:r>
          </a:p>
        </p:txBody>
      </p:sp>
    </p:spTree>
  </p:cSld>
  <p:clrMapOvr>
    <a:masterClrMapping/>
  </p:clrMapOvr>
  <p:transition spd="med" advTm="2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