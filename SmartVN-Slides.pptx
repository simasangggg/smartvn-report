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2E86D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HỆ THỐNG THƯƠNG MẠI ĐIỆN TỬ</a:t>
            </a:r>
            <a:br/>
            <a:r>
              <a:t>SMARTVN</a:t>
            </a:r>
          </a:p>
          <a:p>
            <a:pPr>
              <a:spcBef>
                <a:spcPts val="1400"/>
              </a:spcBef>
              <a:defRPr sz="1600">
                <a:solidFill>
                  <a:srgbClr val="D6EAF8"/>
                </a:solidFill>
              </a:defRPr>
            </a:pPr>
            <a:r>
              <a:t>Kiến trúc Microservices • Spring Boot • Mobile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6EAF8"/>
                </a:solidFill>
              </a:defRPr>
            </a:pPr>
            <a:r>
              <a:t>Học viện Công nghệ Bưu chính Viễn thông — Khoa CNTT2</a:t>
            </a:r>
            <a:br/>
            <a:r>
              <a:t>Thành phố Hồ Chí Minh, Tháng 6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NỘI DUNG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1. Tổng quan đề tài</a:t>
            </a: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2. Kiến trúc Microservices</a:t>
            </a: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3. Ứng dụng Mobile Android (MVVM)</a:t>
            </a: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4. Giao diện Mobile</a:t>
            </a: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6. Kiểm thử &amp; Hiệu năng</a:t>
            </a: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7. Kết luận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01  TỔNG QUAN ĐỀ TÀI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BỐI CẢNH &amp; 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Thương mại điện tử Việt Nam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Thị trường TMĐT toàn cầu &gt; 6.000 tỷ USD (2025)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Shopee, Lazada, Tiki, Sendo cạnh tranh mạnh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Thách thức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Mở rộng linh hoạt cho lượng lớn người dùng đồng thời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Đảm bảo tính sẵn sàng — một service lỗi không sập toàn hệ thống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Bảo mật thông tin &amp; thanh toán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Hướng tiếp cận: Microservices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Spring Boot 3.3 + Spring Cloud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Mobile Android native (Java, MVVM)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QUY TRÌNH MUA HÀNG — TRƯỚC vs SAU</a:t>
            </a:r>
          </a:p>
        </p:txBody>
      </p:sp>
      <p:pic>
        <p:nvPicPr>
          <p:cNvPr id="5" name="Picture 4" descr="img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669280" cy="5029200"/>
          </a:xfrm>
          <a:prstGeom prst="rect">
            <a:avLst/>
          </a:prstGeom>
        </p:spPr>
      </p:pic>
      <p:pic>
        <p:nvPicPr>
          <p:cNvPr id="6" name="Picture 5" descr="img-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02  KIẾN TRÚC MICROSERVICES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SƠ ĐỒ KIẾN TRÚC TỔNG THỂ</a:t>
            </a:r>
          </a:p>
        </p:txBody>
      </p:sp>
      <p:pic>
        <p:nvPicPr>
          <p:cNvPr id="5" name="Picture 4" descr="img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CÁC MICROSERVICES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Vai trò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Eureka Server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8761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Service Discovery &amp; Registry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Config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Quản lý cấu hình tập trung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8080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Routing, JWT validation, CORS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User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Quản lý người dùng, JWT/OAuth2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Product Service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8082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Sản phẩm + Redis cache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Order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Đơn hàng + Thanh toán VNPay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Admin Service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8084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</a:defRPr>
                      </a:pPr>
                      <a:r>
                        <a:t>Quản trị, dashboard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Backend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Spring Boot 3.3 + Spring Cloud (Gateway, Eureka, Config)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Spring Security + JWT + OAuth2 (Google, GitHub)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Resilience4j Circuit Breaker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Data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MySQL 8.0 — RDBMS chính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Redis 7 — Cache (giảm latency 5.5x)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Frontend &amp; Mobile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React + Vite (Customer &amp; Admin Web)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Android Java + MVVM (Mobile)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DevOps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Docker Compose deployment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Grafana k6 performance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03  ỨNG DỤNG MOBILE ANDROID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KIẾN TRÚC MOBILE — MVVM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Tech Stack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Java + Android SDK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Retrofit 2 — REST API calls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Room Database — offline-first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LiveData + ViewModel — reactive UI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Material Design 3 — giao diện hiện đại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Features chính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Đăng ký / Đăng nhập (JWT + OAuth2 Google)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Duyệt sản phẩm, tìm kiếm, lọc danh mục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Giỏ hàng (offline + sync server)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Đặt hàng &amp; thanh toán VNPay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Theo dõi trạng thái đơn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Quản lý tài khoản &amp; địa chỉ</a:t>
            </a:r>
          </a:p>
        </p:txBody>
      </p:sp>
      <p:pic>
        <p:nvPicPr>
          <p:cNvPr id="6" name="Picture 5" descr="img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USE CASE DIAGRAM —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Khách vãng lai (Guest)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Xem sản phẩm, tìm kiếm, xem đánh giá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Khách hàng (Logged-in)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Tất cả quyền Guest +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Giỏ hàng → Đặt hàng → Thanh toán VNPay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Đánh giá sản phẩm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Quản lý tài khoản, địa chỉ, lịch sử đơn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Luồng chính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Browse → Add to Cart → Checkout → Payment → Track Order</a:t>
            </a:r>
          </a:p>
        </p:txBody>
      </p:sp>
      <p:pic>
        <p:nvPicPr>
          <p:cNvPr id="6" name="Picture 5" descr="img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MOBILE — ĐĂNG NHẬP &amp; ĐĂNG KÝ</a:t>
            </a:r>
          </a:p>
        </p:txBody>
      </p:sp>
      <p:pic>
        <p:nvPicPr>
          <p:cNvPr id="5" name="Picture 4" descr="img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Đăng nhập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Email + Password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OAuth2 Google (one-tap)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Auto-refresh JWT token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Đăng ký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Form đăng ký + xác nhận OTP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Validate email real-time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Offline-first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Lưu token vào SharedPreferences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Auto-login khi mất mạng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MOBILE — DANH SÁCH &amp; CHI TIẾT SẢN PHẨM</a:t>
            </a:r>
          </a:p>
        </p:txBody>
      </p:sp>
      <p:pic>
        <p:nvPicPr>
          <p:cNvPr id="5" name="Picture 4" descr="img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Danh sách sản phẩm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RecyclerView + GridLayoutManager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Filter theo danh mục (Smartphones, Laptop...)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Price range slider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Pull-to-refresh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Chi tiết sản phẩm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ViewPager2 cho gallery ảnh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Thông số kỹ thuật (RAM, pin, màn hình...)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Nút Add to Cart + Buy 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MOBILE — GIỎ HÀNG &amp;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Giỏ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Room Database lưu offline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Tăng/giảm số lượng, xoá sản phẩm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Sync với server khi có mạng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Checkout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Chọn địa chỉ giao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Chọn phương thức thanh toán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Xác nhận đơn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Thanh toán VNPay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WebView redirect đến cổng VNPay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Callback xử lý kết quả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Cập nhật trạng thái đơn hàng</a:t>
            </a:r>
          </a:p>
        </p:txBody>
      </p:sp>
      <p:pic>
        <p:nvPicPr>
          <p:cNvPr id="6" name="Picture 5" descr="img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303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MOBILE — TÀI KHOẢN &amp; ĐƠN HÀNG</a:t>
            </a:r>
          </a:p>
        </p:txBody>
      </p:sp>
      <p:pic>
        <p:nvPicPr>
          <p:cNvPr id="5" name="Picture 4" descr="img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Quản lý tài khoản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Profile Info: tên, email, SĐT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Quản lý địa chỉ (thêm/sửa/xoá)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Đổi mật khẩu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Đơn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Danh sách đơn + trạng thái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Chi tiết đơn (sản phẩm, tổng tiền)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Theo dõi giao hàng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Huỷ đơn (nếu chưa ship)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Đánh giá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Rate sản phẩm (1-5 sao)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Viết review + ảnh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05  KẾT LUẬN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KẾT QUẢ BENCHMARK — REDIS CACHE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Không Cache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Redis Cache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Cải thiện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Avg Response Time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47.81ms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8.66ms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5.5x nhanh hơn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196.8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248.5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+26%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&gt; 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Hoàn hảo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P95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~120ms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~25ms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C3E50"/>
                          </a:solidFill>
                        </a:defRPr>
                      </a:pPr>
                      <a:r>
                        <a:t>4.8x nhanh hơn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Tool: Grafana k6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Load testing với 100 virtual users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So sánh: No Cache vs Redis Cache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Product Service endpoint chính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06  CẢM ƠN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SmartVN — Hệ thống TMĐT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KẾT QUẢ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Kết quả đạt được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Hệ thống TMĐT SmartVN hoàn chỉnh (7 microservices)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Ứng dụng Mobile Android native (MVVM) đầy đủ tính năng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Hiệu năng: Redis cache giảm latency 5.5x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Bảo mật: JWT + OAuth2 + Circuit Breaker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Docker Compose deployment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</a:p>
          <a:p>
            <a:pPr>
              <a:spcBef>
                <a:spcPts val="1400"/>
              </a:spcBef>
              <a:defRPr sz="1700" b="1">
                <a:solidFill>
                  <a:srgbClr val="2E86DE"/>
                </a:solidFill>
              </a:defRPr>
            </a:pPr>
            <a:r>
              <a:t>Hướng phát triển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CI/CD pipeline (GitHub Actions)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Monitoring (Prometheus + Grafana)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Push notification (Firebase FCM)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Elasticsearch full-text search</a:t>
            </a:r>
          </a:p>
          <a:p>
            <a:pPr>
              <a:spcBef>
                <a:spcPts val="500"/>
              </a:spcBef>
              <a:defRPr sz="1500">
                <a:solidFill>
                  <a:srgbClr val="2C3E50"/>
                </a:solidFill>
              </a:defRPr>
            </a:pPr>
            <a:r>
              <a:t>• iOS app (Flutter cross-platform)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2E86DE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CẢM ƠN THẦY VÀ CÁC BẠN!</a:t>
            </a:r>
          </a:p>
          <a:p>
            <a:pPr algn="ctr">
              <a:spcBef>
                <a:spcPts val="2000"/>
              </a:spcBef>
              <a:defRPr sz="2400">
                <a:solidFill>
                  <a:srgbClr val="D6EAF8"/>
                </a:solidFill>
              </a:defRPr>
            </a:pPr>
            <a:r>
              <a:t>Xin 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6EAF8"/>
                </a:solidFill>
              </a:defRPr>
            </a:pPr>
            <a:r>
              <a:t>Học viện Công nghệ Bưu chính Viễn thông — Khoa CNTT2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