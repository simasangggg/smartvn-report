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HỆ THỐNG THƯƠNG MẠI ĐIỆN TỬ</a:t>
            </a:r>
            <a:br/>
            <a:r>
              <a:t>SMARTVN</a:t>
            </a:r>
          </a:p>
          <a:p>
            <a:pPr>
              <a:spcBef>
                <a:spcPts val="1400"/>
              </a:spcBef>
              <a:defRPr sz="1600">
                <a:solidFill>
                  <a:srgbClr val="D6EAF8"/>
                </a:solidFill>
              </a:defRPr>
            </a:pPr>
            <a:r>
              <a:t>Kiến trúc Microservices • Spring Boot • Mobile Android • AI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6EAF8"/>
                </a:solidFill>
              </a:defRPr>
            </a:pPr>
            <a:r>
              <a:t>Học viện Công nghệ Bưu chính Viễn thông — Khoa CNTT2</a:t>
            </a:r>
            <a:br/>
            <a:r>
              <a:t>Thành phố Hồ Chí Minh, Tháng 6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1. Tổng quan đề tài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2. Kiến trúc Microservices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3. Ứng dụng Mobile Android (MVVM)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4. Giao diện Mobile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5. Recommendation System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6. Kiểm thử &amp; Hiệu năng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7.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01  TỔNG QUAN ĐỀ TÀI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BỐI CẢNH &amp;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Thương mại điện tử Việt Nam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Thị trường TMĐT toàn cầu &gt; 6.000 tỷ USD (2025)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Shopee, Lazada, Tiki, Sendo cạnh tranh mạnh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Thách thức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Mở rộng linh hoạt cho lượng lớn người dùng đồng thời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Đảm bảo tính sẵn sàng — một service lỗi không sập toàn hệ thống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Bảo mật thông tin &amp; thanh toán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Hướng tiếp cận: Microservices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Boot 3.3 + Spring Cloud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Mobile Android native (Java, MVVM)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AI Recommendation (PhoBERT + ALS)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QUY TRÌNH MUA HÀNG — TRƯỚC vs SAU</a:t>
            </a:r>
          </a:p>
        </p:txBody>
      </p:sp>
      <p:pic>
        <p:nvPicPr>
          <p:cNvPr id="5" name="Picture 4" descr="img-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5029200"/>
          </a:xfrm>
          <a:prstGeom prst="rect">
            <a:avLst/>
          </a:prstGeom>
        </p:spPr>
      </p:pic>
      <p:pic>
        <p:nvPicPr>
          <p:cNvPr id="6" name="Picture 5" descr="img-0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02  KIẾN TRÚC MICROSERVICES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SƠ ĐỒ KIẾN TRÚC TỔNG THỂ</a:t>
            </a:r>
          </a:p>
        </p:txBody>
      </p:sp>
      <p:pic>
        <p:nvPicPr>
          <p:cNvPr id="5" name="Picture 4" descr="img-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CÁC MICROSERVICES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Vai trò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Eureka Server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8761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Service Discovery &amp; Registry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Config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lý cấu hình tập trung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Routing, JWT validation, CORS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lý người dùng, JWT/OAuth2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Sản phẩm + Redis cache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Đơn hàng + Thanh toán VNPay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Admin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trị, dashboard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Recommend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AI Recommendation (PhoBERT+ALS)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CÔNG NGHỆ SỬ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Backend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Boot 3.3 + Spring Cloud (Gateway, Eureka, Config)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Security + JWT + OAuth2 (Google, GitHub)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Resilience4j Circuit Breaker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Data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MySQL 8.0 — RDBMS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Redis 7 — Cache (giảm latency 5.5x)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Frontend &amp; Mobile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React + Vite (Customer &amp; Admin Web)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Android Java + MVVM (Mobile)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AI &amp; DevOps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PhoBERT + ALS Hybrid Recommendation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Docker Compose deployment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Grafana k6 performance 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03  ỨNG DỤNG MOBILE ANDROID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KIẾN TRÚC MOBILE — MVVM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Tech Stack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Java + Android SDK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Retrofit 2 — REST API calls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Room Database — offline-first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LiveData + ViewModel — reactive UI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Material Design 3 — giao diện hiện đại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Features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Đăng ký / Đăng nhập (JWT + OAuth2 Google)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Duyệt sản phẩm, tìm kiếm, lọc danh mục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Giỏ hàng (offline + sync server)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Đặt hàng &amp; 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Theo dõi trạng thái 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tài khoản &amp; địa chỉ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USE CASE DIAGRAM —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Khách vãng lai (Guest)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Xem sản phẩm, tìm kiếm, xem đánh giá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Khách hàng (Logged-in)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Tất cả quyền Guest +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Nhận gợi ý AI (PhoBERT + ALS)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Giỏ hàng → Đặt hàng → 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Đánh giá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tài khoản, địa chỉ, lịch sử đơn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Luồng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Browse → Add to Cart → Checkout → Payment → Track Order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ĐĂNG NHẬP &amp; ĐĂNG KÝ</a:t>
            </a:r>
          </a:p>
        </p:txBody>
      </p:sp>
      <p:pic>
        <p:nvPicPr>
          <p:cNvPr id="5" name="Picture 4" descr="img-0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Đăng nhập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Email + Password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OAuth2 Google (one-tap)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Auto-refresh JWT token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Đăng ký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Form đăng ký + xác nhận OTP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Validate email real-time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Offline-first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Lưu token vào SharedPreferences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Auto-login khi mất mạng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DANH SÁCH &amp; CHI TIẾT SẢN PHẨM</a:t>
            </a:r>
          </a:p>
        </p:txBody>
      </p:sp>
      <p:pic>
        <p:nvPicPr>
          <p:cNvPr id="5" name="Picture 4" descr="img-0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Danh sách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RecyclerView + GridLayoutManager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Filter theo danh mục (Smartphones, Laptop...)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Price range slider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Pull-to-refresh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Chi tiết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ViewPager2 cho gallery ảnh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Thông số kỹ thuật (RAM, pin, màn hình...)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Nút Add to Cart + Buy Now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Gợi ý sản phẩm tương tự (AI)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GIỎ HÀNG &amp; CHECKOUT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Giỏ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Room Database lưu offline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Tăng/giảm số lượng, xoá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Sync với server khi có mạng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Checkout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Chọn địa chỉ giao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Chọn phương thức thanh toán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Xác nhận 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WebView redirect đến cổng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Callback xử lý kết quả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Cập nhật trạng thái đơn hàng</a:t>
            </a:r>
          </a:p>
        </p:txBody>
      </p:sp>
      <p:pic>
        <p:nvPicPr>
          <p:cNvPr id="6" name="Picture 5" descr="img-0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TÀI KHOẢN &amp; ĐƠN HÀNG</a:t>
            </a:r>
          </a:p>
        </p:txBody>
      </p:sp>
      <p:pic>
        <p:nvPicPr>
          <p:cNvPr id="5" name="Picture 4" descr="img-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Quản lý tài khoản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Profile Info: tên, email, SĐT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địa chỉ (thêm/sửa/xoá)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Đổi mật khẩu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Danh sách đơn + trạng thái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Chi tiết đơn (sản phẩm, tổng tiền)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Theo dõi giao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Huỷ đơn (nếu chưa ship)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Đánh giá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Rate sản phẩm (1-5 sao)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Viết review + ảnh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04  AI RECOMMENDATION SYSTEM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HYBRID RECOMMENDATION — PhoBERT + 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Content-Based: PhoBERT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Pre-trained Vietnamese language model (VinAI)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Phân tích mô tả sản phẩm → text embeddings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Tính similarity giữa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Collaborative: ALS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Alternating Least Squares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Học từ lịch sử mua hàng user-item matrix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Dự đoán user sẽ thích sản phẩm nào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Hybrid Merge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Kết hợp điểm từ cả 2 model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Cold start: user mới → Content-Based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Warm user → Collaborative ưu tiên hơn</a:t>
            </a:r>
          </a:p>
        </p:txBody>
      </p:sp>
      <p:pic>
        <p:nvPicPr>
          <p:cNvPr id="6" name="Picture 5" descr="img-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05  KIỂM THỬ &amp; HIỆU NĂNG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KẾT QUẢ BENCHMARK — REDIS CACHE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Không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Redis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Cải thiện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Avg Response Time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47.81ms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8.66ms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5.5x nhanh hơn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196.8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248.5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+26%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Error Rate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&gt; 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Hoàn hảo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~120ms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~25ms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4.8x nhanh hơn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Tool: Grafana k6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Load testing với 100 virtual users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So sánh: No Cache vs Redis Cache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Product Service endpoint chính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06  KẾT LUẬN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KẾT QUẢ &amp; 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Kết quả đạt được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Hệ thống TMĐT SmartVN hoàn chỉnh (7 microservices)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Ứng dụng Mobile Android native (MVVM) đầy đủ tính năng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AI Recommendation (PhoBERT + ALS Hybrid)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Hiệu năng: Redis cache giảm latency 5.5x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Bảo mật: JWT + OAuth2 + Circuit Breaker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Docker Compose deployment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Hướng phát triển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CI/CD pipeline (GitHub Actions)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Monitoring (Prometheus + Grafana)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Push notification (Firebase FCM)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Elasticsearch full-text search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iOS app (Flutter cross-platform)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CẢM ƠN THẦY VÀ CÁC BẠN!</a:t>
            </a:r>
          </a:p>
          <a:p>
            <a:pPr algn="ctr">
              <a:spcBef>
                <a:spcPts val="2000"/>
              </a:spcBef>
              <a:defRPr sz="2400">
                <a:solidFill>
                  <a:srgbClr val="D6EAF8"/>
                </a:solidFill>
              </a:defRPr>
            </a:pPr>
            <a:r>
              <a:t>Xin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D6EAF8"/>
                </a:solidFill>
              </a:defRPr>
            </a:pPr>
            <a:r>
              <a:t>Học viện Công nghệ Bưu chính Viễn thông — Khoa CNTT2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